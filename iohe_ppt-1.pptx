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85" r:id="rId6"/>
    <p:sldId id="286" r:id="rId7"/>
    <p:sldId id="287" r:id="rId8"/>
    <p:sldId id="288" r:id="rId9"/>
    <p:sldId id="289" r:id="rId10"/>
    <p:sldId id="278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6" autoAdjust="0"/>
    <p:restoredTop sz="94660"/>
  </p:normalViewPr>
  <p:slideViewPr>
    <p:cSldViewPr>
      <p:cViewPr varScale="1">
        <p:scale>
          <a:sx n="49" d="100"/>
          <a:sy n="49" d="100"/>
        </p:scale>
        <p:origin x="1088" y="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35978" y="994917"/>
            <a:ext cx="140842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1005840"/>
          </a:xfrm>
          <a:custGeom>
            <a:avLst/>
            <a:gdLst/>
            <a:ahLst/>
            <a:cxnLst/>
            <a:rect l="l" t="t" r="r" b="b"/>
            <a:pathLst>
              <a:path w="14630400" h="1005840">
                <a:moveTo>
                  <a:pt x="14630400" y="0"/>
                </a:moveTo>
                <a:lnTo>
                  <a:pt x="0" y="0"/>
                </a:lnTo>
                <a:lnTo>
                  <a:pt x="0" y="1005840"/>
                </a:lnTo>
                <a:lnTo>
                  <a:pt x="14630400" y="100584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85119" y="274320"/>
            <a:ext cx="3291839" cy="762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834244" y="0"/>
            <a:ext cx="4796155" cy="1005840"/>
          </a:xfrm>
          <a:custGeom>
            <a:avLst/>
            <a:gdLst/>
            <a:ahLst/>
            <a:cxnLst/>
            <a:rect l="l" t="t" r="r" b="b"/>
            <a:pathLst>
              <a:path w="4796155" h="1005840">
                <a:moveTo>
                  <a:pt x="4796155" y="0"/>
                </a:moveTo>
                <a:lnTo>
                  <a:pt x="0" y="0"/>
                </a:lnTo>
                <a:lnTo>
                  <a:pt x="0" y="1005840"/>
                </a:lnTo>
                <a:lnTo>
                  <a:pt x="4796155" y="1005840"/>
                </a:lnTo>
                <a:lnTo>
                  <a:pt x="4796155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85119" y="274320"/>
            <a:ext cx="3291839" cy="7620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0443844" y="228600"/>
            <a:ext cx="3322320" cy="822960"/>
          </a:xfrm>
          <a:custGeom>
            <a:avLst/>
            <a:gdLst/>
            <a:ahLst/>
            <a:cxnLst/>
            <a:rect l="l" t="t" r="r" b="b"/>
            <a:pathLst>
              <a:path w="3322319" h="822960">
                <a:moveTo>
                  <a:pt x="3322320" y="0"/>
                </a:moveTo>
                <a:lnTo>
                  <a:pt x="0" y="0"/>
                </a:lnTo>
                <a:lnTo>
                  <a:pt x="0" y="822959"/>
                </a:lnTo>
                <a:lnTo>
                  <a:pt x="3322320" y="822959"/>
                </a:lnTo>
                <a:lnTo>
                  <a:pt x="3322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85119" y="274320"/>
            <a:ext cx="3074035" cy="73152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8043544"/>
            <a:ext cx="14599538" cy="1847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8508" y="1005586"/>
            <a:ext cx="13799819" cy="861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091" y="2121535"/>
            <a:ext cx="10270490" cy="291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148562" y="7834941"/>
            <a:ext cx="445769" cy="41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295400"/>
            <a:ext cx="12192000" cy="1658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400"/>
              </a:lnSpc>
              <a:spcBef>
                <a:spcPts val="100"/>
              </a:spcBef>
            </a:pPr>
            <a:r>
              <a:rPr lang="en-US" sz="2800" spc="-10" dirty="0">
                <a:solidFill>
                  <a:srgbClr val="000000"/>
                </a:solidFill>
              </a:rPr>
              <a:t>    Project Presentation of Industry Oriented Hands on Experience(22CS422)</a:t>
            </a:r>
            <a:br>
              <a:rPr lang="en-US" sz="2800" spc="-10" dirty="0">
                <a:solidFill>
                  <a:srgbClr val="000000"/>
                </a:solidFill>
              </a:rPr>
            </a:br>
            <a:r>
              <a:rPr sz="3000" spc="-10" dirty="0">
                <a:solidFill>
                  <a:srgbClr val="000000"/>
                </a:solidFill>
              </a:rPr>
              <a:t> </a:t>
            </a:r>
            <a:r>
              <a:rPr sz="3000" spc="-25" dirty="0">
                <a:solidFill>
                  <a:srgbClr val="000000"/>
                </a:solidFill>
              </a:rPr>
              <a:t>On</a:t>
            </a:r>
            <a:endParaRPr sz="3000" dirty="0"/>
          </a:p>
          <a:p>
            <a:pPr marR="97790" algn="ctr">
              <a:lnSpc>
                <a:spcPct val="100000"/>
              </a:lnSpc>
              <a:spcBef>
                <a:spcPts val="370"/>
              </a:spcBef>
            </a:pPr>
            <a:r>
              <a:rPr lang="en-US" sz="3400" spc="-10" dirty="0">
                <a:solidFill>
                  <a:srgbClr val="000000"/>
                </a:solidFill>
              </a:rPr>
              <a:t>     Federated Learning Framework for IoT Intrusion Detection</a:t>
            </a:r>
            <a:endParaRPr sz="3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800600" y="3266811"/>
            <a:ext cx="4724400" cy="29706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R="318135" algn="ctr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Pri</a:t>
            </a:r>
            <a:r>
              <a:rPr lang="en-US" sz="2400" dirty="0">
                <a:latin typeface="Times New Roman"/>
                <a:cs typeface="Times New Roman"/>
              </a:rPr>
              <a:t>sha Aggarwal</a:t>
            </a:r>
            <a:r>
              <a:rPr sz="2400" spc="-10" dirty="0">
                <a:latin typeface="Times New Roman"/>
                <a:cs typeface="Times New Roman"/>
              </a:rPr>
              <a:t>(221099068</a:t>
            </a:r>
            <a:r>
              <a:rPr lang="en-US" sz="2400" spc="-1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R="318135" algn="ctr">
              <a:lnSpc>
                <a:spcPct val="100000"/>
              </a:lnSpc>
              <a:spcBef>
                <a:spcPts val="505"/>
              </a:spcBef>
            </a:pPr>
            <a:r>
              <a:rPr lang="en-US" sz="2400" spc="-10" dirty="0">
                <a:latin typeface="Times New Roman"/>
                <a:cs typeface="Times New Roman"/>
              </a:rPr>
              <a:t>Rhythm Sharma(2210990721)</a:t>
            </a:r>
          </a:p>
          <a:p>
            <a:pPr marR="316865" algn="ctr">
              <a:lnSpc>
                <a:spcPct val="100000"/>
              </a:lnSpc>
              <a:spcBef>
                <a:spcPts val="395"/>
              </a:spcBef>
            </a:pPr>
            <a:endParaRPr lang="en-US" sz="2400" spc="-10" dirty="0">
              <a:latin typeface="Times New Roman"/>
              <a:cs typeface="Times New Roman"/>
            </a:endParaRPr>
          </a:p>
          <a:p>
            <a:pPr marR="316865" algn="ctr">
              <a:lnSpc>
                <a:spcPct val="100000"/>
              </a:lnSpc>
              <a:spcBef>
                <a:spcPts val="395"/>
              </a:spcBef>
            </a:pPr>
            <a:endParaRPr lang="en-US" sz="2400" spc="-10" dirty="0">
              <a:latin typeface="Times New Roman"/>
              <a:cs typeface="Times New Roman"/>
            </a:endParaRPr>
          </a:p>
          <a:p>
            <a:pPr marR="316865" algn="ctr">
              <a:lnSpc>
                <a:spcPct val="100000"/>
              </a:lnSpc>
              <a:spcBef>
                <a:spcPts val="395"/>
              </a:spcBef>
            </a:pPr>
            <a:endParaRPr lang="en-US" sz="2400" spc="-10" dirty="0">
              <a:latin typeface="Times New Roman"/>
              <a:cs typeface="Times New Roman"/>
            </a:endParaRPr>
          </a:p>
          <a:p>
            <a:pPr marR="316865" algn="ctr">
              <a:lnSpc>
                <a:spcPct val="100000"/>
              </a:lnSpc>
              <a:spcBef>
                <a:spcPts val="39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Supervised By:</a:t>
            </a:r>
          </a:p>
          <a:p>
            <a:pPr marR="316865" algn="ctr">
              <a:lnSpc>
                <a:spcPct val="100000"/>
              </a:lnSpc>
              <a:spcBef>
                <a:spcPts val="395"/>
              </a:spcBef>
            </a:pPr>
            <a:r>
              <a:rPr lang="en-US" sz="2400" b="1" spc="-10" dirty="0">
                <a:latin typeface="Times New Roman"/>
                <a:cs typeface="Times New Roman"/>
              </a:rPr>
              <a:t>Dr. Monika Aggarwal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6047" y="6553200"/>
            <a:ext cx="83299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8805" marR="5080" indent="-1856739">
              <a:lnSpc>
                <a:spcPct val="110000"/>
              </a:lnSpc>
              <a:spcBef>
                <a:spcPts val="100"/>
              </a:spcBef>
            </a:pPr>
            <a:r>
              <a:rPr sz="3000" b="1" spc="-10" dirty="0">
                <a:latin typeface="Times New Roman"/>
                <a:cs typeface="Times New Roman"/>
              </a:rPr>
              <a:t>Department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Computer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Science</a:t>
            </a:r>
            <a:r>
              <a:rPr sz="3000" b="1" spc="-1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Engineering, </a:t>
            </a:r>
            <a:r>
              <a:rPr sz="3000" b="1" dirty="0">
                <a:latin typeface="Times New Roman"/>
                <a:cs typeface="Times New Roman"/>
              </a:rPr>
              <a:t>Chitkara</a:t>
            </a:r>
            <a:r>
              <a:rPr sz="3000" b="1" spc="-150" dirty="0">
                <a:latin typeface="Times New Roman"/>
                <a:cs typeface="Times New Roman"/>
              </a:rPr>
              <a:t> </a:t>
            </a:r>
            <a:r>
              <a:rPr sz="3000" b="1" spc="-20" dirty="0">
                <a:latin typeface="Times New Roman"/>
                <a:cs typeface="Times New Roman"/>
              </a:rPr>
              <a:t>University,</a:t>
            </a:r>
            <a:r>
              <a:rPr sz="3000" b="1" spc="-13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Punjab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000" y="1295400"/>
            <a:ext cx="2790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2362200"/>
            <a:ext cx="13374668" cy="4607672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devices like sensors, vehicles, and smart systems to exchange data over the internet.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is widely used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cities, healthcare (IoMT), and industrial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devices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(low power, memory, processing).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networks are vulnerable to attacks such as: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 attacks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Botnets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struggle with: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issues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communication cost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point of failure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066800"/>
            <a:ext cx="13799819" cy="861694"/>
          </a:xfrm>
          <a:prstGeom prst="rect">
            <a:avLst/>
          </a:prstGeom>
        </p:spPr>
        <p:txBody>
          <a:bodyPr vert="horz" wrap="square" lIns="0" tIns="261696" rIns="0" bIns="0" rtlCol="0">
            <a:spAutoFit/>
          </a:bodyPr>
          <a:lstStyle/>
          <a:p>
            <a:pPr marL="470535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5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2478150"/>
            <a:ext cx="13209396" cy="4901406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Intrusion Detection Systems (IDS) face: 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risks (sensitive data sharing) 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and bandwidth usage 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point of failure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environments are: 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distributed and heterogeneous </a:t>
            </a:r>
          </a:p>
          <a:p>
            <a:pPr marL="285750" lvl="1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massive real-time data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for: </a:t>
            </a: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secure, scalable, and privacy-preserving solution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cyber attacks without sharing raw data </a:t>
            </a:r>
          </a:p>
          <a:p>
            <a:pPr algn="l"/>
            <a:endParaRPr lang="en-US" sz="2400" dirty="0"/>
          </a:p>
          <a:p>
            <a:pPr marL="12700" marR="5080" algn="l">
              <a:lnSpc>
                <a:spcPct val="95800"/>
              </a:lnSpc>
              <a:spcBef>
                <a:spcPts val="235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1219200"/>
            <a:ext cx="8465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Objective of Research Paper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C64C67-852A-D464-06FF-5D0E68406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452808"/>
            <a:ext cx="105156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propose a Federated Learning-based Intrusion Detection System (FL-IDS)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in IoT networks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preservation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analyze: Types of Federated Learning: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Horizontal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Vertical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scalable and efficient IDS framework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BA73-E907-C777-C357-B884D6B9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99786D-EF90-6811-BFFF-DC21CACC7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1219200"/>
            <a:ext cx="8465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What is Internet of Things (IoT)?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5CF0FB4-93A6-900A-59AB-810FE83E67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5906C3-7C8C-D822-B2B5-FDDA17EE6B7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854" y="1701254"/>
            <a:ext cx="12757546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is a network of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devices connected via the internet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devices include: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appliances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communication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and real-time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homes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device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7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9FCD-99C1-96E6-6F20-28FE3364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DE6F22-2A5B-7986-98AF-0E8447783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1219200"/>
            <a:ext cx="95319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What is Intrusion Detection System (IDS)?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F0B2769-6527-5831-8565-8A8C1458C2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62A4DF-CB9B-FBD4-8934-8AADB253E48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43000" y="2173071"/>
            <a:ext cx="115824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is a security system that monitors network activity, detects malicious behavior or unauthorized access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acts as a second line of defense after firewalls.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IDS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known attack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Anomaly-based IDS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behavior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cyber threats early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network integrity and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94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B694-0317-DD75-F5A0-59A86829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FA9802-6F29-0B97-EC81-7C53F31CC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6400" y="1219200"/>
            <a:ext cx="95319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What is Federated Learning (FL)?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44E4603-34CB-7A64-3F46-88D20652B1F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643E5C-1E79-4205-52E2-0A5352D2AB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600" y="2362200"/>
            <a:ext cx="114300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 is a distributed machine learning approach which allows training models on multiple devices without sharing raw data.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train models locally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model updates are shared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server aggregates updates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data privacy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decentralized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71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D637-67EE-905B-6961-42C90470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D5AF03-B03B-551F-0123-70654A85C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1219200"/>
            <a:ext cx="77031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Future Scope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646E60-E10A-4934-4A04-30EC0E182F3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785E9D-5298-8E28-B844-D3F2844D80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600" y="2590800"/>
            <a:ext cx="118872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blockchain for secure model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advanced privacy techniques (e.g., differential privacy)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non-IID data challenges in IoT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lightweight models for low-power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transportation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IoT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Improving detection of zero-day attacks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03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CAD7-61BD-68BC-E279-1E2F5BC6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C24178-525A-6F20-2DBF-E9F5492A3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0" y="1219200"/>
            <a:ext cx="69411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References</a:t>
            </a:r>
            <a:endParaRPr spc="-10" dirty="0">
              <a:solidFill>
                <a:srgbClr val="FF25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76E513-A24B-1346-6E4E-96FBBA2CC87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4629">
              <a:lnSpc>
                <a:spcPts val="315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E0F465-8BDB-A1B0-12E2-2457EF8681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2600" y="2743200"/>
            <a:ext cx="111252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McMahan et al. (2017) – Federated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Truong et al. (2021) – Privacy in FL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Gyamfi &amp;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Jurcut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(2022) – IDS in IoT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Fares et al. (2025) – FL-based IDS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Rehman et al. (2026) – Incremental FL IDS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Mothukuri et al. (2024/25) – FL anomaly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Wazzan et al. (2021) – IoT Botnet Detection </a:t>
            </a:r>
          </a:p>
        </p:txBody>
      </p:sp>
    </p:spTree>
    <p:extLst>
      <p:ext uri="{BB962C8B-B14F-4D97-AF65-F5344CB8AC3E}">
        <p14:creationId xmlns:p14="http://schemas.microsoft.com/office/powerpoint/2010/main" val="311692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2414" y="3154756"/>
            <a:ext cx="559308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8800" spc="-4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8800" spc="-2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endParaRPr sz="8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539</Words>
  <Application>Microsoft Office PowerPoint</Application>
  <PresentationFormat>Custom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    Project Presentation of Industry Oriented Hands on Experience(22CS422)  On      Federated Learning Framework for IoT Intrusion Detection</vt:lpstr>
      <vt:lpstr>Introduction</vt:lpstr>
      <vt:lpstr>Problem Statement</vt:lpstr>
      <vt:lpstr>Objective of Research Paper</vt:lpstr>
      <vt:lpstr>What is Internet of Things (IoT)?</vt:lpstr>
      <vt:lpstr>What is Intrusion Detection System (IDS)?</vt:lpstr>
      <vt:lpstr>What is Federated Learning (FL)?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Gargi Sharma</cp:lastModifiedBy>
  <cp:revision>11</cp:revision>
  <dcterms:created xsi:type="dcterms:W3CDTF">2025-05-20T16:55:33Z</dcterms:created>
  <dcterms:modified xsi:type="dcterms:W3CDTF">2026-04-29T07:22:05Z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2025-05-20T00:00:00Z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2025-05-20T00:00:00Z</vt:filetime>
  </property>
  <property fmtid="{D5CDD505-2E9C-101B-9397-08002B2CF9AE}" pid="5" name="Producer">
    <vt:lpwstr>Microsoft® Word 2021</vt:lpwstr>
  </property>
</Properties>
</file>